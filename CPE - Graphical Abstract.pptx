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6" roundtripDataSignature="AMtx7mg4x95715KAcYGqE2rJNX2/qRR29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e450cdf39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e450cdf39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e450cdf399_0_0"/>
          <p:cNvSpPr/>
          <p:nvPr/>
        </p:nvSpPr>
        <p:spPr>
          <a:xfrm>
            <a:off x="0" y="16125"/>
            <a:ext cx="12192000" cy="14532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Technological benefits and cost analysis of various surfactants in different applications of cloud point extraction</a:t>
            </a:r>
            <a:endParaRPr b="1" sz="2600"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85" name="Google Shape;85;ge450cdf399_0_0"/>
          <p:cNvGrpSpPr/>
          <p:nvPr/>
        </p:nvGrpSpPr>
        <p:grpSpPr>
          <a:xfrm>
            <a:off x="48" y="5083206"/>
            <a:ext cx="7032794" cy="1774773"/>
            <a:chOff x="1593000" y="2322568"/>
            <a:chExt cx="5957975" cy="643500"/>
          </a:xfrm>
        </p:grpSpPr>
        <p:sp>
          <p:nvSpPr>
            <p:cNvPr id="86" name="Google Shape;86;ge450cdf399_0_0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</p:txBody>
        </p:sp>
        <p:sp>
          <p:nvSpPr>
            <p:cNvPr id="87" name="Google Shape;87;ge450cdf399_0_0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A72A1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</p:txBody>
        </p:sp>
        <p:sp>
          <p:nvSpPr>
            <p:cNvPr id="88" name="Google Shape;88;ge450cdf399_0_0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A72A1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</p:txBody>
        </p:sp>
        <p:sp>
          <p:nvSpPr>
            <p:cNvPr id="89" name="Google Shape;89;ge450cdf399_0_0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Latest Developments</a:t>
              </a:r>
              <a:endParaRPr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0" name="Google Shape;90;ge450cdf399_0_0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B02C20"/>
            </a:solidFill>
            <a:ln>
              <a:noFill/>
            </a:ln>
            <a:effectLst>
              <a:outerShdw blurRad="71438" rotWithShape="0" algn="bl" dir="2700000" dist="28575">
                <a:srgbClr val="000000">
                  <a:alpha val="17000"/>
                </a:srgbClr>
              </a:outerShdw>
            </a:effectLst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</p:txBody>
        </p:sp>
        <p:sp>
          <p:nvSpPr>
            <p:cNvPr id="91" name="Google Shape;91;ge450cdf399_0_0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BE2F2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3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03</a:t>
              </a:r>
              <a:endParaRPr sz="3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2" name="Google Shape;92;ge450cdf399_0_0"/>
            <p:cNvSpPr/>
            <p:nvPr/>
          </p:nvSpPr>
          <p:spPr>
            <a:xfrm>
              <a:off x="4387850" y="2323750"/>
              <a:ext cx="29712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-387350" lvl="0" marL="6096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72A1E"/>
                </a:buClr>
                <a:buSzPts val="1300"/>
                <a:buFont typeface="Roboto"/>
                <a:buChar char="●"/>
              </a:pPr>
              <a:r>
                <a:rPr lang="en-IN" sz="1300">
                  <a:solidFill>
                    <a:srgbClr val="A72A1E"/>
                  </a:solidFill>
                  <a:latin typeface="Roboto"/>
                  <a:ea typeface="Roboto"/>
                  <a:cs typeface="Roboto"/>
                  <a:sym typeface="Roboto"/>
                </a:rPr>
                <a:t>Spectroanalytical techniques &amp; inferences</a:t>
              </a:r>
              <a:endParaRPr sz="13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87350" lvl="0" marL="6096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72A1E"/>
                </a:buClr>
                <a:buSzPts val="1300"/>
                <a:buFont typeface="Roboto"/>
                <a:buChar char="●"/>
              </a:pPr>
              <a:r>
                <a:rPr lang="en-IN" sz="1300">
                  <a:solidFill>
                    <a:srgbClr val="A72A1E"/>
                  </a:solidFill>
                  <a:latin typeface="Roboto"/>
                  <a:ea typeface="Roboto"/>
                  <a:cs typeface="Roboto"/>
                  <a:sym typeface="Roboto"/>
                </a:rPr>
                <a:t>Modified CPE techniques ~  RS-CPE, dCPE, MAE-CPE, on-line CPE.</a:t>
              </a:r>
              <a:endParaRPr sz="13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3" name="Google Shape;93;ge450cdf399_0_0"/>
          <p:cNvGrpSpPr/>
          <p:nvPr/>
        </p:nvGrpSpPr>
        <p:grpSpPr>
          <a:xfrm>
            <a:off x="48" y="3276280"/>
            <a:ext cx="7032794" cy="1774773"/>
            <a:chOff x="1593000" y="2322568"/>
            <a:chExt cx="5957975" cy="643500"/>
          </a:xfrm>
        </p:grpSpPr>
        <p:sp>
          <p:nvSpPr>
            <p:cNvPr id="94" name="Google Shape;94;ge450cdf399_0_0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</p:txBody>
        </p:sp>
        <p:sp>
          <p:nvSpPr>
            <p:cNvPr id="95" name="Google Shape;95;ge450cdf399_0_0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A72A1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</p:txBody>
        </p:sp>
        <p:sp>
          <p:nvSpPr>
            <p:cNvPr id="96" name="Google Shape;96;ge450cdf399_0_0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A72A1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</p:txBody>
        </p:sp>
        <p:sp>
          <p:nvSpPr>
            <p:cNvPr id="97" name="Google Shape;97;ge450cdf399_0_0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Applications</a:t>
              </a:r>
              <a:endParaRPr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8" name="Google Shape;98;ge450cdf399_0_0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B02C20"/>
            </a:solidFill>
            <a:ln>
              <a:noFill/>
            </a:ln>
            <a:effectLst>
              <a:outerShdw blurRad="71438" rotWithShape="0" algn="bl" dir="2700000" dist="28575">
                <a:srgbClr val="000000">
                  <a:alpha val="17000"/>
                </a:srgbClr>
              </a:outerShdw>
            </a:effectLst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</p:txBody>
        </p:sp>
        <p:sp>
          <p:nvSpPr>
            <p:cNvPr id="99" name="Google Shape;99;ge450cdf399_0_0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BE2F2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3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02</a:t>
              </a:r>
              <a:endParaRPr sz="3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0" name="Google Shape;100;ge450cdf399_0_0"/>
            <p:cNvSpPr/>
            <p:nvPr/>
          </p:nvSpPr>
          <p:spPr>
            <a:xfrm>
              <a:off x="4387850" y="2323750"/>
              <a:ext cx="29712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-387350" lvl="0" marL="6096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72A1E"/>
                </a:buClr>
                <a:buSzPts val="1300"/>
                <a:buFont typeface="Roboto"/>
                <a:buChar char="●"/>
              </a:pPr>
              <a:r>
                <a:rPr lang="en-IN" sz="1300">
                  <a:solidFill>
                    <a:srgbClr val="A72A1E"/>
                  </a:solidFill>
                  <a:latin typeface="Roboto"/>
                  <a:ea typeface="Roboto"/>
                  <a:cs typeface="Roboto"/>
                  <a:sym typeface="Roboto"/>
                </a:rPr>
                <a:t>Techno-economic feasibility analysed ~ power cost analysis.</a:t>
              </a:r>
              <a:endParaRPr sz="13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87350" lvl="0" marL="6096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72A1E"/>
                </a:buClr>
                <a:buSzPts val="1300"/>
                <a:buFont typeface="Roboto"/>
                <a:buChar char="●"/>
              </a:pPr>
              <a:r>
                <a:rPr lang="en-IN" sz="1300">
                  <a:solidFill>
                    <a:srgbClr val="A72A1E"/>
                  </a:solidFill>
                  <a:latin typeface="Roboto"/>
                  <a:ea typeface="Roboto"/>
                  <a:cs typeface="Roboto"/>
                  <a:sym typeface="Roboto"/>
                </a:rPr>
                <a:t>Merits/demerits of CPE w.r.t applications. </a:t>
              </a:r>
              <a:endParaRPr sz="13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1" name="Google Shape;101;ge450cdf399_0_0"/>
          <p:cNvGrpSpPr/>
          <p:nvPr/>
        </p:nvGrpSpPr>
        <p:grpSpPr>
          <a:xfrm>
            <a:off x="48" y="1469328"/>
            <a:ext cx="7032794" cy="1774773"/>
            <a:chOff x="1593000" y="2322568"/>
            <a:chExt cx="5957975" cy="643500"/>
          </a:xfrm>
        </p:grpSpPr>
        <p:sp>
          <p:nvSpPr>
            <p:cNvPr id="102" name="Google Shape;102;ge450cdf399_0_0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</p:txBody>
        </p:sp>
        <p:sp>
          <p:nvSpPr>
            <p:cNvPr id="103" name="Google Shape;103;ge450cdf399_0_0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A72A1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</p:txBody>
        </p:sp>
        <p:sp>
          <p:nvSpPr>
            <p:cNvPr id="104" name="Google Shape;104;ge450cdf399_0_0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A72A1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</p:txBody>
        </p:sp>
        <p:sp>
          <p:nvSpPr>
            <p:cNvPr id="105" name="Google Shape;105;ge450cdf399_0_0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Surfactants</a:t>
              </a:r>
              <a:endParaRPr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6" name="Google Shape;106;ge450cdf399_0_0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B02C20"/>
            </a:solidFill>
            <a:ln>
              <a:noFill/>
            </a:ln>
            <a:effectLst>
              <a:outerShdw blurRad="71438" rotWithShape="0" algn="bl" dir="2700000" dist="28575">
                <a:srgbClr val="000000">
                  <a:alpha val="17000"/>
                </a:srgbClr>
              </a:outerShdw>
            </a:effectLst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/>
            </a:p>
          </p:txBody>
        </p:sp>
        <p:sp>
          <p:nvSpPr>
            <p:cNvPr id="107" name="Google Shape;107;ge450cdf399_0_0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BE2F2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3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01</a:t>
              </a:r>
              <a:endParaRPr sz="3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8" name="Google Shape;108;ge450cdf399_0_0"/>
            <p:cNvSpPr/>
            <p:nvPr/>
          </p:nvSpPr>
          <p:spPr>
            <a:xfrm>
              <a:off x="4387850" y="2323750"/>
              <a:ext cx="29712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-387350" lvl="0" marL="6096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72A1E"/>
                </a:buClr>
                <a:buSzPts val="1300"/>
                <a:buFont typeface="Roboto"/>
                <a:buChar char="●"/>
              </a:pPr>
              <a:r>
                <a:rPr lang="en-IN" sz="1300">
                  <a:solidFill>
                    <a:srgbClr val="A72A1E"/>
                  </a:solidFill>
                  <a:latin typeface="Roboto"/>
                  <a:ea typeface="Roboto"/>
                  <a:cs typeface="Roboto"/>
                  <a:sym typeface="Roboto"/>
                </a:rPr>
                <a:t>Surfactant role &amp; type in CPE</a:t>
              </a:r>
              <a:endParaRPr sz="13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87350" lvl="0" marL="6096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72A1E"/>
                </a:buClr>
                <a:buSzPts val="1300"/>
                <a:buFont typeface="Roboto"/>
                <a:buChar char="●"/>
              </a:pPr>
              <a:r>
                <a:rPr lang="en-IN" sz="1300">
                  <a:solidFill>
                    <a:srgbClr val="A72A1E"/>
                  </a:solidFill>
                  <a:latin typeface="Roboto"/>
                  <a:ea typeface="Roboto"/>
                  <a:cs typeface="Roboto"/>
                  <a:sym typeface="Roboto"/>
                </a:rPr>
                <a:t>Surfactant c</a:t>
              </a:r>
              <a:r>
                <a:rPr lang="en-IN" sz="1300">
                  <a:solidFill>
                    <a:srgbClr val="A72A1E"/>
                  </a:solidFill>
                  <a:latin typeface="Roboto"/>
                  <a:ea typeface="Roboto"/>
                  <a:cs typeface="Roboto"/>
                  <a:sym typeface="Roboto"/>
                </a:rPr>
                <a:t>osts calculated, concentration effects discussed.</a:t>
              </a:r>
              <a:endParaRPr sz="13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87350" lvl="0" marL="6096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72A1E"/>
                </a:buClr>
                <a:buSzPts val="1300"/>
                <a:buFont typeface="Roboto"/>
                <a:buChar char="●"/>
              </a:pPr>
              <a:r>
                <a:rPr lang="en-IN" sz="1300">
                  <a:solidFill>
                    <a:srgbClr val="A72A1E"/>
                  </a:solidFill>
                  <a:latin typeface="Roboto"/>
                  <a:ea typeface="Roboto"/>
                  <a:cs typeface="Roboto"/>
                  <a:sym typeface="Roboto"/>
                </a:rPr>
                <a:t>Mechanism of CPE</a:t>
              </a:r>
              <a:endParaRPr sz="1300">
                <a:solidFill>
                  <a:srgbClr val="A72A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09" name="Google Shape;109;ge450cdf399_0_0"/>
          <p:cNvSpPr/>
          <p:nvPr/>
        </p:nvSpPr>
        <p:spPr>
          <a:xfrm>
            <a:off x="8151105" y="2796023"/>
            <a:ext cx="3334200" cy="3085800"/>
          </a:xfrm>
          <a:prstGeom prst="ellipse">
            <a:avLst/>
          </a:prstGeom>
          <a:solidFill>
            <a:srgbClr val="EDA29B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grpSp>
        <p:nvGrpSpPr>
          <p:cNvPr id="110" name="Google Shape;110;ge450cdf399_0_0"/>
          <p:cNvGrpSpPr/>
          <p:nvPr/>
        </p:nvGrpSpPr>
        <p:grpSpPr>
          <a:xfrm>
            <a:off x="8786821" y="2445508"/>
            <a:ext cx="2062682" cy="1908679"/>
            <a:chOff x="3611776" y="414352"/>
            <a:chExt cx="2166000" cy="2166000"/>
          </a:xfrm>
        </p:grpSpPr>
        <p:sp>
          <p:nvSpPr>
            <p:cNvPr id="111" name="Google Shape;111;ge450cdf399_0_0"/>
            <p:cNvSpPr/>
            <p:nvPr/>
          </p:nvSpPr>
          <p:spPr>
            <a:xfrm>
              <a:off x="3611776" y="414352"/>
              <a:ext cx="2166000" cy="2166000"/>
            </a:xfrm>
            <a:prstGeom prst="ellipse">
              <a:avLst/>
            </a:prstGeom>
            <a:solidFill>
              <a:srgbClr val="D83829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112" name="Google Shape;112;ge450cdf399_0_0"/>
            <p:cNvSpPr txBox="1"/>
            <p:nvPr/>
          </p:nvSpPr>
          <p:spPr>
            <a:xfrm>
              <a:off x="3869919" y="1027507"/>
              <a:ext cx="1715400" cy="70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1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Spectroanalytical determination of metal ions</a:t>
              </a:r>
              <a:endParaRPr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3" name="Google Shape;113;ge450cdf399_0_0"/>
          <p:cNvGrpSpPr/>
          <p:nvPr/>
        </p:nvGrpSpPr>
        <p:grpSpPr>
          <a:xfrm>
            <a:off x="9691965" y="3871740"/>
            <a:ext cx="2062682" cy="1908679"/>
            <a:chOff x="4562258" y="2032864"/>
            <a:chExt cx="2166000" cy="2166000"/>
          </a:xfrm>
        </p:grpSpPr>
        <p:sp>
          <p:nvSpPr>
            <p:cNvPr id="114" name="Google Shape;114;ge450cdf399_0_0"/>
            <p:cNvSpPr/>
            <p:nvPr/>
          </p:nvSpPr>
          <p:spPr>
            <a:xfrm>
              <a:off x="4562258" y="2032864"/>
              <a:ext cx="2166000" cy="2166000"/>
            </a:xfrm>
            <a:prstGeom prst="ellipse">
              <a:avLst/>
            </a:prstGeom>
            <a:solidFill>
              <a:srgbClr val="B02C2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115" name="Google Shape;115;ge450cdf399_0_0"/>
            <p:cNvSpPr txBox="1"/>
            <p:nvPr/>
          </p:nvSpPr>
          <p:spPr>
            <a:xfrm>
              <a:off x="5079846" y="2834728"/>
              <a:ext cx="1496100" cy="70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1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Dye removal</a:t>
              </a:r>
              <a:endParaRPr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6" name="Google Shape;116;ge450cdf399_0_0"/>
          <p:cNvGrpSpPr/>
          <p:nvPr/>
        </p:nvGrpSpPr>
        <p:grpSpPr>
          <a:xfrm>
            <a:off x="7921276" y="3871741"/>
            <a:ext cx="2062682" cy="1908679"/>
            <a:chOff x="2702876" y="2032864"/>
            <a:chExt cx="2166000" cy="2166000"/>
          </a:xfrm>
        </p:grpSpPr>
        <p:sp>
          <p:nvSpPr>
            <p:cNvPr id="117" name="Google Shape;117;ge450cdf399_0_0"/>
            <p:cNvSpPr/>
            <p:nvPr/>
          </p:nvSpPr>
          <p:spPr>
            <a:xfrm>
              <a:off x="2702876" y="2032864"/>
              <a:ext cx="2166000" cy="2166000"/>
            </a:xfrm>
            <a:prstGeom prst="ellipse">
              <a:avLst/>
            </a:prstGeom>
            <a:solidFill>
              <a:srgbClr val="802017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118" name="Google Shape;118;ge450cdf399_0_0"/>
            <p:cNvSpPr txBox="1"/>
            <p:nvPr/>
          </p:nvSpPr>
          <p:spPr>
            <a:xfrm>
              <a:off x="2840554" y="2834725"/>
              <a:ext cx="1584900" cy="70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1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Preconcentration of essential components</a:t>
              </a:r>
              <a:endParaRPr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19" name="Google Shape;119;ge450cdf399_0_0"/>
          <p:cNvSpPr/>
          <p:nvPr/>
        </p:nvSpPr>
        <p:spPr>
          <a:xfrm>
            <a:off x="9237343" y="3795502"/>
            <a:ext cx="1167300" cy="1080600"/>
          </a:xfrm>
          <a:prstGeom prst="ellipse">
            <a:avLst/>
          </a:prstGeom>
          <a:solidFill>
            <a:srgbClr val="EDA29B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/>
              <a:t>USES</a:t>
            </a:r>
            <a:endParaRPr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2021-04-04T10:49:28Z</dcterms:created>
  <dc:creator>Sanchit Lakra</dc:creator>
</cp:coreProperties>
</file>